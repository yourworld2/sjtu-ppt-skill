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3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67" r:id="rId4"/>
    <p:sldId id="260" r:id="rId5"/>
    <p:sldId id="270" r:id="rId6"/>
    <p:sldId id="269" r:id="rId7"/>
  </p:sldIdLst>
  <p:sldSz cx="12192000" cy="6858000"/>
  <p:notesSz cx="6858000" cy="9144000"/>
  <p:embeddedFontLst>
    <p:embeddedFont>
      <p:font typeface="HarmonyOS Sans SC Black" panose="00000A00000000000000" pitchFamily="2" charset="-122"/>
      <p:bold r:id="rId10"/>
    </p:embeddedFont>
    <p:embeddedFont>
      <p:font typeface="等线" panose="02010600030101010101" pitchFamily="2" charset="-122"/>
      <p:regular r:id="rId11"/>
      <p:bold r:id="rId12"/>
    </p:embeddedFont>
  </p:embeddedFontLst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434" userDrawn="1">
          <p15:clr>
            <a:srgbClr val="A4A3A4"/>
          </p15:clr>
        </p15:guide>
        <p15:guide id="4" orient="horz" pos="20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01" autoAdjust="0"/>
    <p:restoredTop sz="94692" autoAdjust="0"/>
  </p:normalViewPr>
  <p:slideViewPr>
    <p:cSldViewPr snapToGrid="0">
      <p:cViewPr varScale="1">
        <p:scale>
          <a:sx n="91" d="100"/>
          <a:sy n="91" d="100"/>
        </p:scale>
        <p:origin x="1830" y="84"/>
      </p:cViewPr>
      <p:guideLst>
        <p:guide pos="3840"/>
        <p:guide pos="2434"/>
        <p:guide orient="horz" pos="20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9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D9358BC-04DF-4455-B949-70BC9175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56B79-1091-400F-A2A9-6227671170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F21A8-AF92-4370-9E6D-DA18C0EF5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F13FF-4C82-4209-AB1F-7FD604644B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47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7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133A512F-7935-4AA0-B8EE-327DA99E1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8F4F430E-61A6-4C9B-AB28-E09461FC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>
            <a:extLst>
              <a:ext uri="{FF2B5EF4-FFF2-40B4-BE49-F238E27FC236}">
                <a16:creationId xmlns:a16="http://schemas.microsoft.com/office/drawing/2014/main" id="{17E19222-08F1-4F61-ACC2-6E16BB7436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5B70BAF5-028D-41B3-B9C1-DA2C824DF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9C00A82-D333-4159-817E-9C7380D16DA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2F7CF06-2AC1-461F-B3BC-23393E41E73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alphaModFix amt="50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D624B0D-C38A-4A21-9289-4625DBDC6329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71D46B1-BB63-4C6F-B0CE-67B40AD7F8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1B8C26D-FDFA-4BF4-A7CF-B529B7E2DB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1622BD5-1061-4C09-9A14-FD1D2E6AED4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FF43810-468E-87D2-2CEF-20DF138B0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629650" y="625965"/>
            <a:ext cx="3242802" cy="444593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DAFC707-C06A-F203-3BA3-015FE359E8A7}"/>
              </a:ext>
            </a:extLst>
          </p:cNvPr>
          <p:cNvCxnSpPr/>
          <p:nvPr userDrawn="1"/>
        </p:nvCxnSpPr>
        <p:spPr>
          <a:xfrm>
            <a:off x="2046000" y="1716968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7D94362E-8C03-6987-B1D2-36A6C8DAF6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13" y="272114"/>
            <a:ext cx="2169174" cy="7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4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8" descr="图片包含 泰迪熊, 建筑, 熊, 装满&#10;&#10;描述已自动生成">
            <a:extLst>
              <a:ext uri="{FF2B5EF4-FFF2-40B4-BE49-F238E27FC236}">
                <a16:creationId xmlns:a16="http://schemas.microsoft.com/office/drawing/2014/main" id="{F76A447F-8076-D9B1-D83F-B6892B0886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9" r="20389"/>
          <a:stretch/>
        </p:blipFill>
        <p:spPr>
          <a:xfrm>
            <a:off x="6096000" y="0"/>
            <a:ext cx="6096001" cy="685800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59BA01-ADDE-45EC-AD9A-30B45C126EF8}"/>
              </a:ext>
            </a:extLst>
          </p:cNvPr>
          <p:cNvGrpSpPr/>
          <p:nvPr/>
        </p:nvGrpSpPr>
        <p:grpSpPr>
          <a:xfrm>
            <a:off x="391884" y="2278063"/>
            <a:ext cx="4122059" cy="1462680"/>
            <a:chOff x="667656" y="1497651"/>
            <a:chExt cx="4122059" cy="146268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C4775BF-17D8-45C0-9CB9-425332699B08}"/>
                </a:ext>
              </a:extLst>
            </p:cNvPr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D22151C-5CCD-4390-83DF-F41B623A3BBE}"/>
                  </a:ext>
                </a:extLst>
              </p:cNvPr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pic>
            <p:nvPicPr>
              <p:cNvPr id="18" name="图片 17" descr="图片包含 建筑物&#10;&#10;自动生成的说明">
                <a:extLst>
                  <a:ext uri="{FF2B5EF4-FFF2-40B4-BE49-F238E27FC236}">
                    <a16:creationId xmlns:a16="http://schemas.microsoft.com/office/drawing/2014/main" id="{4FA339D9-8197-4F28-8D72-F96BF5158E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rgbClr val="DBDBDB">
                    <a:shade val="45000"/>
                    <a:satMod val="135000"/>
                  </a:srgbClr>
                  <a:prstClr val="white"/>
                </a:duotone>
                <a:alphaModFix amt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081911D-2E44-4FD6-A0AD-907AAE52FACB}"/>
                </a:ext>
              </a:extLst>
            </p:cNvPr>
            <p:cNvSpPr txBox="1"/>
            <p:nvPr/>
          </p:nvSpPr>
          <p:spPr>
            <a:xfrm>
              <a:off x="2387598" y="1755350"/>
              <a:ext cx="22351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rPr>
                <a:t>目  录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92C7D20-4DAB-48D5-B9FE-07311B97C222}"/>
                </a:ext>
              </a:extLst>
            </p:cNvPr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gradFill>
              <a:gsLst>
                <a:gs pos="100000">
                  <a:schemeClr val="accent4"/>
                </a:gs>
                <a:gs pos="62000">
                  <a:schemeClr val="tx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9DC87843-02F7-918E-903F-79F43C73AB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830" y="2553232"/>
            <a:ext cx="1257935" cy="882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2222BF3-1762-7913-BC06-BBED2E4B0D2A}"/>
              </a:ext>
            </a:extLst>
          </p:cNvPr>
          <p:cNvSpPr/>
          <p:nvPr userDrawn="1"/>
        </p:nvSpPr>
        <p:spPr>
          <a:xfrm>
            <a:off x="6618650" y="121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9907BC0-D734-4D44-D7D4-02EA1B4FED40}"/>
              </a:ext>
            </a:extLst>
          </p:cNvPr>
          <p:cNvGrpSpPr/>
          <p:nvPr userDrawn="1"/>
        </p:nvGrpSpPr>
        <p:grpSpPr>
          <a:xfrm>
            <a:off x="5688375" y="1218700"/>
            <a:ext cx="720000" cy="720000"/>
            <a:chOff x="5412150" y="1180600"/>
            <a:chExt cx="720000" cy="720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A6EB95E-E9BA-EB55-088F-ECD9B8460959}"/>
                </a:ext>
              </a:extLst>
            </p:cNvPr>
            <p:cNvSpPr/>
            <p:nvPr/>
          </p:nvSpPr>
          <p:spPr>
            <a:xfrm>
              <a:off x="5412150" y="118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1</a:t>
              </a:r>
              <a:endParaRPr lang="zh-CN" altLang="en-US" sz="3200" b="1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2F7E615-F0A5-F092-E72D-71CC030D1C89}"/>
                </a:ext>
              </a:extLst>
            </p:cNvPr>
            <p:cNvSpPr/>
            <p:nvPr/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2806386-9385-622E-19B8-F6A2ABE5A66E}"/>
              </a:ext>
            </a:extLst>
          </p:cNvPr>
          <p:cNvGrpSpPr/>
          <p:nvPr userDrawn="1"/>
        </p:nvGrpSpPr>
        <p:grpSpPr>
          <a:xfrm>
            <a:off x="5688375" y="2298700"/>
            <a:ext cx="720000" cy="720000"/>
            <a:chOff x="5412150" y="2260600"/>
            <a:chExt cx="720000" cy="720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FF76DF9-AEC5-5813-1963-8DF576FDB60F}"/>
                </a:ext>
              </a:extLst>
            </p:cNvPr>
            <p:cNvSpPr/>
            <p:nvPr/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2</a:t>
              </a:r>
              <a:endParaRPr lang="zh-CN" altLang="en-US" sz="3200" b="1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DB3DE9-46D9-7D23-7EB8-CA95EE3F5162}"/>
                </a:ext>
              </a:extLst>
            </p:cNvPr>
            <p:cNvSpPr/>
            <p:nvPr/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BFF623-0892-18B5-C92B-E40A2CB7E71D}"/>
              </a:ext>
            </a:extLst>
          </p:cNvPr>
          <p:cNvGrpSpPr/>
          <p:nvPr userDrawn="1"/>
        </p:nvGrpSpPr>
        <p:grpSpPr>
          <a:xfrm>
            <a:off x="5688375" y="3378700"/>
            <a:ext cx="720000" cy="720000"/>
            <a:chOff x="5412150" y="3340600"/>
            <a:chExt cx="720000" cy="7200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C384004-FF71-D9E8-099F-3270ACBB9A29}"/>
                </a:ext>
              </a:extLst>
            </p:cNvPr>
            <p:cNvSpPr/>
            <p:nvPr/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3</a:t>
              </a:r>
              <a:endParaRPr lang="zh-CN" altLang="en-US" sz="3200" b="1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5A79E1E-6AB6-A6BB-D58F-03A43954B188}"/>
                </a:ext>
              </a:extLst>
            </p:cNvPr>
            <p:cNvSpPr/>
            <p:nvPr/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E056EC-FB15-F8B6-6BE8-CFB4B5EE18FB}"/>
              </a:ext>
            </a:extLst>
          </p:cNvPr>
          <p:cNvGrpSpPr/>
          <p:nvPr userDrawn="1"/>
        </p:nvGrpSpPr>
        <p:grpSpPr>
          <a:xfrm>
            <a:off x="5688375" y="4458700"/>
            <a:ext cx="720000" cy="720000"/>
            <a:chOff x="5412150" y="4420600"/>
            <a:chExt cx="720000" cy="7200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27DF09E-BAF7-A36A-6999-24CFA4EE240C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4</a:t>
              </a:r>
              <a:endParaRPr lang="zh-CN" altLang="en-US" sz="3200" b="1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2A2619B-0EFB-14F9-0173-8BED1F1176C2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4723EF40-5FBF-C9C9-00AB-9FFE639A7BA8}"/>
              </a:ext>
            </a:extLst>
          </p:cNvPr>
          <p:cNvSpPr/>
          <p:nvPr userDrawn="1"/>
        </p:nvSpPr>
        <p:spPr>
          <a:xfrm>
            <a:off x="6618650" y="337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E20410-D7A8-0832-EB74-CEDEE2E2B6D9}"/>
              </a:ext>
            </a:extLst>
          </p:cNvPr>
          <p:cNvSpPr/>
          <p:nvPr userDrawn="1"/>
        </p:nvSpPr>
        <p:spPr>
          <a:xfrm>
            <a:off x="6618650" y="445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A6F8A3-2CE7-9BBA-FA69-FA569991336D}"/>
              </a:ext>
            </a:extLst>
          </p:cNvPr>
          <p:cNvSpPr/>
          <p:nvPr userDrawn="1"/>
        </p:nvSpPr>
        <p:spPr>
          <a:xfrm>
            <a:off x="6618650" y="229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8" name="文本占位符 31">
            <a:extLst>
              <a:ext uri="{FF2B5EF4-FFF2-40B4-BE49-F238E27FC236}">
                <a16:creationId xmlns:a16="http://schemas.microsoft.com/office/drawing/2014/main" id="{180069E9-968A-B508-D395-FA553ED91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5068" y="1281431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9" name="文本占位符 31">
            <a:extLst>
              <a:ext uri="{FF2B5EF4-FFF2-40B4-BE49-F238E27FC236}">
                <a16:creationId xmlns:a16="http://schemas.microsoft.com/office/drawing/2014/main" id="{A5F7E335-0D0E-8277-B0A3-28490F11A9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95068" y="235945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0" name="文本占位符 31">
            <a:extLst>
              <a:ext uri="{FF2B5EF4-FFF2-40B4-BE49-F238E27FC236}">
                <a16:creationId xmlns:a16="http://schemas.microsoft.com/office/drawing/2014/main" id="{0AACA3DB-2C7C-3F6F-49A4-C4F068F916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5068" y="344360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31">
            <a:extLst>
              <a:ext uri="{FF2B5EF4-FFF2-40B4-BE49-F238E27FC236}">
                <a16:creationId xmlns:a16="http://schemas.microsoft.com/office/drawing/2014/main" id="{F621C992-3A77-6A69-425E-5EBC63462E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95068" y="451945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36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6" name="图片 5" descr="文本&#10;&#10;中度可信度描述已自动生成">
            <a:extLst>
              <a:ext uri="{FF2B5EF4-FFF2-40B4-BE49-F238E27FC236}">
                <a16:creationId xmlns:a16="http://schemas.microsoft.com/office/drawing/2014/main" id="{21DE6316-99D7-356C-85E4-7624DBDA20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FD7BA964-49D2-94FE-65A1-FA3673E2E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4943" y="6297357"/>
            <a:ext cx="647700" cy="365125"/>
          </a:xfrm>
          <a:prstGeom prst="rect">
            <a:avLst/>
          </a:prstGeom>
        </p:spPr>
        <p:txBody>
          <a:bodyPr/>
          <a:lstStyle/>
          <a:p>
            <a:fld id="{62648BE2-EEAD-4A4A-B114-C73950202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08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2BE1FDF5-4923-43E1-8950-8527649FE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FD0C4E5-D655-41D1-8AC5-975561F1C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DD1933B-16C3-4999-98BD-F73EBEC916D2}"/>
              </a:ext>
            </a:extLst>
          </p:cNvPr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AE37BE-F1B1-4D9C-A3B6-56648BA1CF1D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01B036-7786-46C7-98A8-6857014E016B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>
            <a:extLst>
              <a:ext uri="{FF2B5EF4-FFF2-40B4-BE49-F238E27FC236}">
                <a16:creationId xmlns:a16="http://schemas.microsoft.com/office/drawing/2014/main" id="{947A5DF3-60A2-4866-9A4F-599F80ED898E}"/>
              </a:ext>
            </a:extLst>
          </p:cNvPr>
          <p:cNvSpPr txBox="1">
            <a:spLocks/>
          </p:cNvSpPr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10" rtl="0" eaLnBrk="1" latinLnBrk="0" hangingPunct="1">
              <a:lnSpc>
                <a:spcPct val="100000"/>
              </a:lnSpc>
              <a:spcBef>
                <a:spcPts val="1058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78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37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2117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492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34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0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056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10" rtl="0" eaLnBrk="1" fontAlgn="auto" latinLnBrk="0" hangingPunct="1">
              <a:lnSpc>
                <a:spcPct val="100000"/>
              </a:lnSpc>
              <a:spcBef>
                <a:spcPts val="10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E687FC-3BE9-4FBA-A63F-1E81331F6D34}"/>
              </a:ext>
            </a:extLst>
          </p:cNvPr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A3466E-5ED7-4191-A258-206517395BA4}"/>
              </a:ext>
            </a:extLst>
          </p:cNvPr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1DA9E16-0FEA-4E2C-8CE1-B167730F1777}"/>
              </a:ext>
            </a:extLst>
          </p:cNvPr>
          <p:cNvCxnSpPr>
            <a:cxnSpLocks/>
          </p:cNvCxnSpPr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>
            <a:extLst>
              <a:ext uri="{FF2B5EF4-FFF2-40B4-BE49-F238E27FC236}">
                <a16:creationId xmlns:a16="http://schemas.microsoft.com/office/drawing/2014/main" id="{D828F617-93F6-4A6A-9A46-2F3977BC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EB533022-3D57-2F55-B9AC-91DDDA8992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99" y="1152959"/>
            <a:ext cx="3841516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1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64" r:id="rId3"/>
    <p:sldLayoutId id="2147483675" r:id="rId4"/>
    <p:sldLayoutId id="2147483686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Tx/>
        <a:buBlip>
          <a:blip r:embed="rId7"/>
        </a:buBlip>
        <a:defRPr sz="2963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1">
          <p15:clr>
            <a:srgbClr val="F26B43"/>
          </p15:clr>
        </p15:guide>
        <p15:guide id="2" orient="horz" pos="227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227">
          <p15:clr>
            <a:srgbClr val="F26B43"/>
          </p15:clr>
        </p15:guide>
        <p15:guide id="5" orient="horz" pos="2041">
          <p15:clr>
            <a:srgbClr val="F26B43"/>
          </p15:clr>
        </p15:guide>
        <p15:guide id="6" pos="7446" userDrawn="1">
          <p15:clr>
            <a:srgbClr val="F26B43"/>
          </p15:clr>
        </p15:guide>
        <p15:guide id="7" orient="horz" pos="3651">
          <p15:clr>
            <a:srgbClr val="F26B43"/>
          </p15:clr>
        </p15:guide>
        <p15:guide id="8" orient="horz" pos="2514">
          <p15:clr>
            <a:srgbClr val="FDE53C"/>
          </p15:clr>
        </p15:guide>
        <p15:guide id="9" orient="horz" pos="1554">
          <p15:clr>
            <a:srgbClr val="FDE53C"/>
          </p15:clr>
        </p15:guide>
        <p15:guide id="12" pos="2418">
          <p15:clr>
            <a:srgbClr val="A4A3A4"/>
          </p15:clr>
        </p15:guide>
        <p15:guide id="13" pos="4830">
          <p15:clr>
            <a:srgbClr val="A4A3A4"/>
          </p15:clr>
        </p15:guide>
        <p15:guide id="14" orient="horz" pos="1356">
          <p15:clr>
            <a:srgbClr val="A4A3A4"/>
          </p15:clr>
        </p15:guide>
        <p15:guide id="15" orient="horz" pos="271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05ECC-F19C-469E-BAA3-7810EC50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上海交通大学演示文稿模板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5F1DE-2DCC-43FF-880E-DD12920912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53CAF1-A9D1-4E1E-932D-D7D1FAD85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模板策划组</a:t>
            </a:r>
          </a:p>
        </p:txBody>
      </p:sp>
    </p:spTree>
    <p:extLst>
      <p:ext uri="{BB962C8B-B14F-4D97-AF65-F5344CB8AC3E}">
        <p14:creationId xmlns:p14="http://schemas.microsoft.com/office/powerpoint/2010/main" val="30038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B93D2F-4E1D-27BD-54DA-D4B875D2B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D26404-A36F-0FFC-352C-0BF1551F43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524694-DA3D-C781-2D8E-E099EC7AD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2E95C1-70AF-B18F-400E-2BEB989AAD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7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DDFD52-617B-446D-A57C-43A10239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862" y="1355320"/>
            <a:ext cx="8796337" cy="1060855"/>
          </a:xfrm>
        </p:spPr>
        <p:txBody>
          <a:bodyPr/>
          <a:lstStyle/>
          <a:p>
            <a:r>
              <a:rPr lang="zh-CN" altLang="en-US" sz="6000" b="1" dirty="0">
                <a:solidFill>
                  <a:srgbClr val="C8161E"/>
                </a:solidFill>
                <a:latin typeface="+mj-ea"/>
                <a:ea typeface="+mj-ea"/>
                <a:cs typeface="+mj-cs"/>
              </a:rPr>
              <a:t>学校情况介绍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ïṥļiḋe">
            <a:extLst>
              <a:ext uri="{FF2B5EF4-FFF2-40B4-BE49-F238E27FC236}">
                <a16:creationId xmlns:a16="http://schemas.microsoft.com/office/drawing/2014/main" id="{0BBF4F21-8386-41B1-9046-EBC7BE2DE090}"/>
              </a:ext>
            </a:extLst>
          </p:cNvPr>
          <p:cNvSpPr txBox="1"/>
          <p:nvPr/>
        </p:nvSpPr>
        <p:spPr>
          <a:xfrm>
            <a:off x="1154827" y="1885747"/>
            <a:ext cx="268374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4400" b="1" spc="-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1</a:t>
            </a:r>
            <a:endParaRPr lang="en-GB" sz="34400" b="1" spc="-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5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A048031C-ACCD-4F47-AC1D-F55A1029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上海交通大学简介</a:t>
            </a:r>
          </a:p>
        </p:txBody>
      </p:sp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DD1CC97B-827D-430E-B8C4-D5CB49F6B12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上海交通大学是我国历史最悠久、享誉海内外的著名高等学府之一，是教育部直属并与上海市共建的全国重点大学。经过</a:t>
            </a:r>
            <a:r>
              <a:rPr lang="en-US" altLang="zh-CN" dirty="0"/>
              <a:t>125</a:t>
            </a:r>
            <a:r>
              <a:rPr lang="zh-CN" altLang="en-US" dirty="0"/>
              <a:t>年的不懈努力，上海交通大学已经成为一所国内一流、国际知名大学，并在新的历史节点，进一步明确了构建“综合性、创新型、国际化”世界一流大学的愿景目标。</a:t>
            </a:r>
            <a:endParaRPr lang="en-US" altLang="zh-CN" dirty="0"/>
          </a:p>
          <a:p>
            <a:r>
              <a:rPr lang="zh-CN" altLang="en-US" dirty="0"/>
              <a:t>十九世纪末，甲午战败，民族危难。中国近代著名实业家、教育家盛宣怀秉持“自强首在储才，储才必先兴学”的信念，于</a:t>
            </a:r>
            <a:r>
              <a:rPr lang="en-US" altLang="zh-CN" dirty="0"/>
              <a:t>1896</a:t>
            </a:r>
            <a:r>
              <a:rPr lang="zh-CN" altLang="en-US" dirty="0"/>
              <a:t>年在上海创办了交通大学的前身</a:t>
            </a:r>
            <a:r>
              <a:rPr lang="en-US" altLang="zh-CN" dirty="0"/>
              <a:t>——</a:t>
            </a:r>
            <a:r>
              <a:rPr lang="zh-CN" altLang="en-US" dirty="0"/>
              <a:t>南洋公学。建校伊始，学校即确立“求实学，务实业”的宗旨，以培养“第一等人才”为教育目标，精勤进取，笃行不倦，在二十世纪二三十年代已成为国内著名的高等学府，被誉为“东方麻省理工”。</a:t>
            </a:r>
          </a:p>
        </p:txBody>
      </p:sp>
    </p:spTree>
    <p:extLst>
      <p:ext uri="{BB962C8B-B14F-4D97-AF65-F5344CB8AC3E}">
        <p14:creationId xmlns:p14="http://schemas.microsoft.com/office/powerpoint/2010/main" val="231912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EC302-2D27-FDC1-2BB6-CC68D172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F6465-0124-A4F1-6913-1C1D497874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4DCF40-A722-547A-766A-33CADA29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8BE2-EEAD-4A4A-B114-C73950202A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50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9EC1073-6D66-4917-8B78-ACB15DC9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256" y="2163429"/>
            <a:ext cx="5428344" cy="1060855"/>
          </a:xfrm>
          <a:prstGeom prst="rect">
            <a:avLst/>
          </a:prstGeom>
        </p:spPr>
        <p:txBody>
          <a:bodyPr/>
          <a:lstStyle/>
          <a:p>
            <a:r>
              <a:rPr lang="en-US" altLang="zh-CN" b="1" dirty="0"/>
              <a:t>Thank you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3261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  <a:effectLst/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演示文稿1" id="{58207EA5-DF65-41EA-AC31-C4A3CCF3DB63}" vid="{ECDA9F49-FF6D-42F4-A480-1F82BD0E4C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4293</TotalTime>
  <Words>326</Words>
  <Application>Microsoft Office PowerPoint</Application>
  <PresentationFormat>宽屏</PresentationFormat>
  <Paragraphs>11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HarmonyOS Sans SC Black</vt:lpstr>
      <vt:lpstr>Arial</vt:lpstr>
      <vt:lpstr>等线</vt:lpstr>
      <vt:lpstr>自定义设计方案</vt:lpstr>
      <vt:lpstr>上海交通大学演示文稿模板</vt:lpstr>
      <vt:lpstr>PowerPoint 演示文稿</vt:lpstr>
      <vt:lpstr>学校情况介绍</vt:lpstr>
      <vt:lpstr>上海交通大学简介</vt:lpstr>
      <vt:lpstr>PowerPoint 演示文稿</vt:lpstr>
      <vt:lpstr>Thank you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Yi Li</cp:lastModifiedBy>
  <cp:revision>291</cp:revision>
  <cp:lastPrinted>2017-10-17T16:00:00Z</cp:lastPrinted>
  <dcterms:created xsi:type="dcterms:W3CDTF">2017-10-17T16:00:00Z</dcterms:created>
  <dcterms:modified xsi:type="dcterms:W3CDTF">2026-09-18T06:46:15Z</dcterms:modified>
  <cp:category>work report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</Properties>
</file>